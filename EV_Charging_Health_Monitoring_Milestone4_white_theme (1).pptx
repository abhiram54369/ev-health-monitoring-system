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9"/>
    <p:sldId id="260" r:id="rId5"/>
    <p:sldId id="261" r:id="rId6"/>
    <p:sldId id="262" r:id="rId7"/>
    <p:sldId id="263" r:id="rId8"/>
    <p:sldId id="264" r:id="rId10"/>
    <p:sldId id="265" r:id="rId11"/>
    <p:sldId id="266" r:id="rId12"/>
    <p:sldId id="267" r:id="rId13"/>
    <p:sldId id="268" r:id="rId15"/>
    <p:sldId id="269" r:id="rId16"/>
    <p:sldId id="270" r:id="rId2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4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problem space: EV charging networks are growing fast, but their upkeep is still reactive. Our platform makes it predictive.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Stations stream telemetry to the FastAPI backend. The backend stores it, scores station health, and runs the ML model. A risk result raises an alert, and the alert drives a maintenance record. Monitor, analyse, predict, alert,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Optional: replace this slide with two or three screenshots of the running dashboard. Keep the labels short and let the visuals carry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Narrate the same five verbs while clicking: Monitor, Analyse, Predict, Alert, Maintain. Finish on the maintenance record so the loop visibly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panel and open the floor. Have the running app on screen behind you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clear about the boundary: the current build runs on synthetic telemetry and SQLite. Everything on the right is a realistic next step, not a claim about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Land the contrast: reactive versus predictive. The four cards are the outcomes; the panel is the sentence to leave the room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85216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3504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1792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331720"/>
            <a:ext cx="82296" cy="1737360"/>
          </a:xfrm>
          <a:prstGeom prst="roundRect">
            <a:avLst>
              <a:gd name="adj" fmla="val 44444"/>
            </a:avLst>
          </a:prstGeom>
          <a:solidFill>
            <a:srgbClr val="3DDC9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2148840"/>
            <a:ext cx="365760" cy="365760"/>
          </a:xfrm>
          <a:prstGeom prst="rect">
            <a:avLst/>
          </a:prstGeom>
          <a:solidFill>
            <a:srgbClr val="169B62"/>
          </a:solidFill>
          <a:ln w="19050">
            <a:noFill/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PLATFORM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146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Charging Station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Monitoring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251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platform that turns raw charging-station telemetry into health scores, risk levels, and predictive maintenance action — powered by a Random Forest failure-prediction model.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53492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371600" y="5422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742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53492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343400" y="5422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5742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53492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15200" y="5422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SQLAlchemy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742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Infosys Springboard  ·  Milestone 4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Charging-station maintenance is still reactive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  <a:effectLst>
            <a:outerShdw sx="100000" sy="100000" kx="0" ky="0" algn="bl" rotWithShape="0" blurRad="101600" dist="38100" dir="5400000">
              <a:srgbClr val="6B7C8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station fails first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are discovered only after a charger stops working, not before.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  <a:effectLst>
            <a:outerShdw sx="100000" sy="100000" kx="0" ky="0" algn="bl" rotWithShape="0" blurRad="101600" dist="38100" dir="5400000">
              <a:srgbClr val="6B7C8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9160" y="2286000"/>
            <a:ext cx="502920" cy="502920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7091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Downtime hurts trust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566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outages create driver inconvenience and lost operator revenue.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  <a:effectLst>
            <a:outerShdw sx="100000" sy="100000" kx="0" ky="0" algn="bl" rotWithShape="0" blurRad="101600" dist="38100" dir="5400000">
              <a:srgbClr val="6B7C8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503920" y="2286000"/>
            <a:ext cx="502920" cy="502920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503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inspection doesn't scale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566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networks grow to hundreds of stations, checking each one by hand is impossible.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4F8A"/>
            </a:solidFill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14400" y="50749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Our approach: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watch temperature, humidity and power consumption alongside failure history, alerts and maintenance records — then score and predict, instead of waiting for a breakdown.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D9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is built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852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240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69B62"/>
          </a:solidFill>
          <a:ln w="15875"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240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Monitoring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803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the entire charging network instead of station-by-station checks.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852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0" y="2240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69B62"/>
          </a:solidFill>
          <a:ln w="15875">
            <a:noFill/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83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240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&amp; Battery Health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8803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temperature, humidity and power consumption as core health signals.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2852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480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69B62"/>
          </a:solidFill>
          <a:ln w="15875">
            <a:noFill/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6012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480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Risk Identification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1206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stations that need attention via health scores, alerts and ML predictions.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160520"/>
            <a:ext cx="52852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83680" y="4480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69B62"/>
          </a:solidFill>
          <a:ln w="15875">
            <a:noFill/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5836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480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Tooling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1206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administrators maintenance, failure tracking and network-level analysis tools.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platform: monitor, predict, and act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Telemetry, alerts, sessions and service records for every station land in a single database instead of scattered logs.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7830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66344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 predict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423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scoring plus a Random Forest classifier convert raw readings into a risk level for each station.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7830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45820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early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423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maintenance records close the loop, so crews are dispatched before a charger fails in service.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169B62"/>
            </a:solidFill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72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14400" y="4572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88920" y="5120640"/>
            <a:ext cx="137160" cy="0"/>
          </a:xfrm>
          <a:prstGeom prst="line">
            <a:avLst/>
          </a:prstGeom>
          <a:solidFill>
            <a:srgbClr val="169B62"/>
          </a:solidFill>
          <a:ln w="19050">
            <a:noFill/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926080" y="4572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2926080" y="4572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5120640"/>
            <a:ext cx="137160" cy="0"/>
          </a:xfrm>
          <a:prstGeom prst="line">
            <a:avLst/>
          </a:prstGeom>
          <a:solidFill>
            <a:srgbClr val="169B62"/>
          </a:solidFill>
          <a:ln w="19050">
            <a:noFill/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937760" y="4572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937760" y="4572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5120640"/>
            <a:ext cx="137160" cy="0"/>
          </a:xfrm>
          <a:prstGeom prst="line">
            <a:avLst/>
          </a:prstGeom>
          <a:solidFill>
            <a:srgbClr val="169B62"/>
          </a:solidFill>
          <a:ln w="19050">
            <a:noFill/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949440" y="4572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949440" y="4572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flagged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23960" y="5120640"/>
            <a:ext cx="137160" cy="0"/>
          </a:xfrm>
          <a:prstGeom prst="line">
            <a:avLst/>
          </a:prstGeom>
          <a:solidFill>
            <a:srgbClr val="169B62"/>
          </a:solidFill>
          <a:ln w="19050">
            <a:noFill/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961120" y="4572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961120" y="4572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logged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Frontend, API and ML work as three clean layers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566160" y="17830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69B62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3749040" y="18562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/ Admin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2203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2560320"/>
            <a:ext cx="0" cy="228600"/>
          </a:xfrm>
          <a:prstGeom prst="line">
            <a:avLst/>
          </a:prstGeom>
          <a:solidFill>
            <a:srgbClr val="169B62"/>
          </a:solidFill>
          <a:ln w="19050">
            <a:noFill/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566160" y="278892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69B62"/>
            </a:solidFill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749040" y="2862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Frontend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2095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· Charts · Pages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3566160"/>
            <a:ext cx="0" cy="228600"/>
          </a:xfrm>
          <a:prstGeom prst="line">
            <a:avLst/>
          </a:prstGeom>
          <a:solidFill>
            <a:srgbClr val="169B62"/>
          </a:solidFill>
          <a:ln w="19050">
            <a:noFill/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66160" y="37947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69B62"/>
            </a:solidFill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749040" y="3867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2153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· Auth · Business Logic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3886200"/>
            <a:ext cx="0" cy="274320"/>
          </a:xfrm>
          <a:prstGeom prst="line">
            <a:avLst/>
          </a:prstGeom>
          <a:solidFill>
            <a:srgbClr val="169B62"/>
          </a:solidFill>
          <a:ln w="19050">
            <a:noFill/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063240" y="4160520"/>
            <a:ext cx="6035040" cy="0"/>
          </a:xfrm>
          <a:prstGeom prst="line">
            <a:avLst/>
          </a:prstGeom>
          <a:solidFill>
            <a:srgbClr val="169B62"/>
          </a:solidFill>
          <a:ln w="19050">
            <a:noFill/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063240" y="4160520"/>
            <a:ext cx="0" cy="274320"/>
          </a:xfrm>
          <a:prstGeom prst="line">
            <a:avLst/>
          </a:prstGeom>
          <a:solidFill>
            <a:srgbClr val="169B62"/>
          </a:solidFill>
          <a:ln w="19050">
            <a:noFill/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98280" y="4160520"/>
            <a:ext cx="0" cy="274320"/>
          </a:xfrm>
          <a:prstGeom prst="line">
            <a:avLst/>
          </a:prstGeom>
          <a:solidFill>
            <a:srgbClr val="169B62"/>
          </a:solidFill>
          <a:ln w="19050">
            <a:noFill/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280160" y="45262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50876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029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· stations, telemetry,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maintenance, sessions, users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45262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54380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ML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5029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Humidity ·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 → Failure Prediction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 User → Streamlit → FastAPI → Database / ML Model → Result back to the frontend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lightweight, Python-first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  <a:effectLst>
            <a:outerShdw sx="100000" sy="100000" kx="0" ky="0" algn="bl" rotWithShape="0" blurRad="88900" dist="25400" dir="5400000">
              <a:srgbClr val="6B7C8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874520"/>
            <a:ext cx="2606040" cy="128016"/>
          </a:xfrm>
          <a:prstGeom prst="rect">
            <a:avLst/>
          </a:prstGeom>
          <a:solidFill>
            <a:srgbClr val="3DDC9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286207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97280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336499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9728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" y="386791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9728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29000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  <a:effectLst>
            <a:outerShdw sx="100000" sy="100000" kx="0" ky="0" algn="bl" rotWithShape="0" blurRad="88900" dist="25400" dir="5400000">
              <a:srgbClr val="6B7C8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429000" y="1874520"/>
            <a:ext cx="2606040" cy="128016"/>
          </a:xfrm>
          <a:prstGeom prst="rect">
            <a:avLst/>
          </a:prstGeom>
          <a:solidFill>
            <a:srgbClr val="0F5C5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65760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85032" y="286207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886200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85032" y="336499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88620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85032" y="386791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88620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  <a:effectLst>
            <a:outerShdw sx="100000" sy="100000" kx="0" ky="0" algn="bl" rotWithShape="0" blurRad="88900" dist="25400" dir="5400000">
              <a:srgbClr val="6B7C8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17920" y="1874520"/>
            <a:ext cx="2606040" cy="128016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44652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73952" y="286207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675120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73952" y="336499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67512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006840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  <a:effectLst>
            <a:outerShdw sx="100000" sy="100000" kx="0" ky="0" algn="bl" rotWithShape="0" blurRad="88900" dist="25400" dir="5400000">
              <a:srgbClr val="6B7C8C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006840" y="1874520"/>
            <a:ext cx="2606040" cy="128016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92354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9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62872" y="286207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464040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262872" y="336499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946404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262872" y="3867912"/>
            <a:ext cx="82296" cy="82296"/>
          </a:xfrm>
          <a:prstGeom prst="ellipse">
            <a:avLst/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946404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· Pandas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Flask-style sessions + bcrypt password hashing     |     API Docs: FastAPI Swagger / OpenAPI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D9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station, many connected records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169B62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461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entity. Every other record links back to one station, so selecting a station surfaces its full operational picture.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257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Users &amp; Operators for auth and shift management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86200" y="17830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87368" y="2002536"/>
            <a:ext cx="109728" cy="109728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087368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087368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power readings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693408" y="2002536"/>
            <a:ext cx="109728" cy="109728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693408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693408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&amp; completed service records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7830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299448" y="2002536"/>
            <a:ext cx="109728" cy="109728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299448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9448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failure-risk outputs per station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86200" y="39776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087368" y="4197096"/>
            <a:ext cx="109728" cy="109728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087368" y="4434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5029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temp, voltage &amp; sensor issues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39776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693408" y="4197096"/>
            <a:ext cx="109728" cy="109728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693408" y="4434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History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693408" y="5029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faults and resolution status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98280" y="39776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299448" y="4197096"/>
            <a:ext cx="109728" cy="109728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9299448" y="4434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 Sessions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299448" y="5029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ID, energy used, cost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failures with a Random Forest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Features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44805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2715768"/>
            <a:ext cx="457200" cy="45720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972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33"/>
                </a:solidFill>
              </a:rPr>
              <a:t>⚡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624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935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 from the charging unit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566160"/>
            <a:ext cx="44805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97280" y="3767328"/>
            <a:ext cx="457200" cy="45720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9728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33"/>
                </a:solidFill>
              </a:rPr>
              <a:t>⚡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675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986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moisture around the station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617720"/>
            <a:ext cx="44805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97280" y="4818888"/>
            <a:ext cx="457200" cy="45720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09728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33"/>
                </a:solidFill>
              </a:rPr>
              <a:t>⚡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27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038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load drawn during charging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7424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label triggers when ≥ 2 conditions hold: Temp &gt; 45°, Humidity &gt; 75%, Power &gt; 25kW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178308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169B62"/>
            </a:solidFill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2179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RandomForestClassifier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423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= 100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F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 = 42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1,000 synthetic telemetry records; saved as backend/ml/model.pkl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Output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0" y="438912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12648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3"/>
                </a:solidFill>
              </a:rPr>
              <a:t>✓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5074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823960" y="43891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90068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3"/>
                </a:solidFill>
              </a:rPr>
              <a:t>!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5074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INTELLIGENCE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health score, built from four signals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3657600"/>
            <a:ext cx="1920240" cy="109728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3657600"/>
            <a:ext cx="1920240" cy="109728"/>
          </a:xfrm>
          <a:prstGeom prst="rect">
            <a:avLst/>
          </a:prstGeom>
          <a:solidFill>
            <a:srgbClr val="3DDC9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29000" y="192024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429000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749040" y="3657600"/>
            <a:ext cx="1920240" cy="109728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749040" y="3657600"/>
            <a:ext cx="1280160" cy="109728"/>
          </a:xfrm>
          <a:prstGeom prst="rect">
            <a:avLst/>
          </a:prstGeom>
          <a:solidFill>
            <a:srgbClr val="F4B740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217920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37960" y="3657600"/>
            <a:ext cx="1920240" cy="109728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37960" y="3657600"/>
            <a:ext cx="640080" cy="109728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006840" y="192024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006840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26880" y="3657600"/>
            <a:ext cx="1920240" cy="109728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26880" y="3657600"/>
            <a:ext cx="426720" cy="109728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4008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Resulting Classification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9834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68680" y="5120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80-100%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49834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4663440" y="5120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60-79%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0" y="49834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458200" y="5120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60%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telemetry to maintenance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9659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overview: stations, alerts, telemetry activity and predictions at a glance.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11880" y="19659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6118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 Stations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registry with name, charger type (AC L2, DC Fast, CCS, CHAdeMO) and location.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00800" y="19659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008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temperature, humidity and power-consumption readings per station.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06840" y="178308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89720" y="19659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1897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temperature/humidity/power, voltage issues and sensor failures — resolvable by admins.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296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2296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074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schedule and update maintenance records per station.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29000" y="402336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1188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36118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61188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History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5074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past failures with type, description and resolution status for trend analysis.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402336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0080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4008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 Sessions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5074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Vehicle-level session data: start/end time, energy consumed and cost.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06840" y="402336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18972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D94F8A"/>
          </a:solidFill>
          <a:ln>
            <a:noFill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918972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18972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189720" y="5074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submit ratings and comments, visible to administrators.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D9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COMMAND CENTER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operator actually sees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2788920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234440" y="2697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 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319272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34440" y="3227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Station 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3849624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234440" y="37581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Charts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4379976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234440" y="4288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Trends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4910328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234440" y="4818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5440680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23444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Sessions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828800"/>
            <a:ext cx="52578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49224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&amp; Action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37960" y="2788920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766560" y="2697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Panel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3319272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766560" y="3227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History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3849624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766560" y="37581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4379976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766560" y="4288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37960" y="4910328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766560" y="4818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History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5440680"/>
            <a:ext cx="91440" cy="9144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76656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User Access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 above is a live Streamlit page backed by FastAPI endpoints — shown in the demo that follows.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walkthrough,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109728"/>
          </a:xfrm>
          <a:prstGeom prst="rect">
            <a:avLst/>
          </a:prstGeom>
          <a:solidFill>
            <a:srgbClr val="E87A24"/>
          </a:solidFill>
          <a:ln>
            <a:noFill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9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&amp; Analyse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Login with role-based access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443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Dashboard: network at a glance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1985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Charging station directory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9534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Station detail and telemetry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3708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Battery health trends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46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Station &amp; network analytics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8523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169B62"/>
            </a:solidFill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285232" cy="109728"/>
          </a:xfrm>
          <a:prstGeom prst="rect">
            <a:avLst/>
          </a:prstGeom>
          <a:solidFill>
            <a:srgbClr val="E87A24"/>
          </a:solidFill>
          <a:ln>
            <a:noFill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3796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Predict, Alert &amp; Maintain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468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Run the failure prediction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443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Read risk level &amp; health score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4198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Alert raised for the station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8953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Resolve the alert as admin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3708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Schedule maintenance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Failure history updated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06440" y="3383280"/>
            <a:ext cx="502920" cy="5029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8064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9B62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delivered, and what comes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 Today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Centralized station and telemetry monitoring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729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Health scoring and risk classification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313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Random Forest failure prediction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897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Alert generation, review and resolution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1480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Maintenance, sessions, users and operators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85232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53796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14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IoT telemetry from live hardware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1729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deployment with Docker and PostgreSQL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83133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email and SMS alert delivery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4897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Deep-learning failure diagnosis and RUL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5148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monitoring application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intelligent platform for reliable EV infrastructure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Monitoring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of every station, its telemetry and its current operating condition.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6118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Analytics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651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Station-level and network-level intelligence from live and historical 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Prediction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51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model flags stations likely to fail before they actually 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4F8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8972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651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service records turn every prediction into scheduled action.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4F8A"/>
            </a:solidFill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1440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line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920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aims to shift EV charging infrastructure from reactive maintenance towards predictive, data-driven maintenance — telling operators not just what happened, but what to do next.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— Infosys Springboard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D9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85216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3504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1792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502920"/>
            <a:ext cx="45720" cy="45720"/>
          </a:xfrm>
          <a:prstGeom prst="ellipse">
            <a:avLst/>
          </a:prstGeom>
          <a:solidFill>
            <a:srgbClr val="169B62"/>
          </a:solidFill>
          <a:ln>
            <a:noFill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331720"/>
            <a:ext cx="82296" cy="1737360"/>
          </a:xfrm>
          <a:prstGeom prst="roundRect">
            <a:avLst>
              <a:gd name="adj" fmla="val 44444"/>
            </a:avLst>
          </a:prstGeom>
          <a:solidFill>
            <a:srgbClr val="3DDC9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2148840"/>
            <a:ext cx="365760" cy="365760"/>
          </a:xfrm>
          <a:prstGeom prst="rect">
            <a:avLst/>
          </a:prstGeom>
          <a:solidFill>
            <a:srgbClr val="169B62"/>
          </a:solidFill>
          <a:ln w="19050">
            <a:noFill/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TEAM 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146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251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happy to take questions on the system architecture, the Random Forest model, the database design, or anything you saw in the live demo.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53492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371600" y="5422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9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Analyse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742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53492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343400" y="5422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5742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53492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69B6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15200" y="5422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Maintain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742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·  Infosys Springboard  ·  Milestone 4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2000" cy="65000"/>
          </a:xfrm>
          <a:prstGeom prst="rect">
            <a:avLst/>
          </a:prstGeom>
          <a:solidFill>
            <a:srgbClr val="16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2026-09-16T10:25:22Z</dcterms:created>
  <dcterms:modified xsi:type="dcterms:W3CDTF">2026-09-16T10:25:22Z</dcterms:modified>
</cp:coreProperties>
</file>